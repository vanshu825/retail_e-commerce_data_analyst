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6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7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8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FY 2024</c:v>
                </c:pt>
              </c:strCache>
            </c:strRef>
          </c:tx>
          <c:spPr>
            <a:solidFill>
              <a:srgbClr val="E8621A"/>
            </a:solidFill>
            <a:ln w="38100" cap="flat">
              <a:solidFill>
                <a:srgbClr val="E8621A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8621A"/>
              </a:solidFill>
              <a:ln w="9525" cap="flat">
                <a:solidFill>
                  <a:srgbClr val="E8621A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540</c:v>
                </c:pt>
                <c:pt idx="1">
                  <c:v>480</c:v>
                </c:pt>
                <c:pt idx="2">
                  <c:v>610</c:v>
                </c:pt>
                <c:pt idx="3">
                  <c:v>720</c:v>
                </c:pt>
                <c:pt idx="4">
                  <c:v>680</c:v>
                </c:pt>
                <c:pt idx="5">
                  <c:v>750</c:v>
                </c:pt>
                <c:pt idx="6">
                  <c:v>820</c:v>
                </c:pt>
                <c:pt idx="7">
                  <c:v>870</c:v>
                </c:pt>
                <c:pt idx="8">
                  <c:v>760</c:v>
                </c:pt>
                <c:pt idx="9">
                  <c:v>910</c:v>
                </c:pt>
                <c:pt idx="10">
                  <c:v>1050</c:v>
                </c:pt>
                <c:pt idx="11">
                  <c:v>1010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FY 2023</c:v>
                </c:pt>
              </c:strCache>
            </c:strRef>
          </c:tx>
          <c:spPr>
            <a:solidFill>
              <a:srgbClr val="CADCFC"/>
            </a:solidFill>
            <a:ln w="38100" cap="flat">
              <a:solidFill>
                <a:srgbClr val="CADCF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CADCFC"/>
              </a:solidFill>
              <a:ln w="9525" cap="flat">
                <a:solidFill>
                  <a:srgbClr val="CADCF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430</c:v>
                </c:pt>
                <c:pt idx="1">
                  <c:v>400</c:v>
                </c:pt>
                <c:pt idx="2">
                  <c:v>520</c:v>
                </c:pt>
                <c:pt idx="3">
                  <c:v>600</c:v>
                </c:pt>
                <c:pt idx="4">
                  <c:v>560</c:v>
                </c:pt>
                <c:pt idx="5">
                  <c:v>620</c:v>
                </c:pt>
                <c:pt idx="6">
                  <c:v>700</c:v>
                </c:pt>
                <c:pt idx="7">
                  <c:v>740</c:v>
                </c:pt>
                <c:pt idx="8">
                  <c:v>640</c:v>
                </c:pt>
                <c:pt idx="9">
                  <c:v>780</c:v>
                </c:pt>
                <c:pt idx="10">
                  <c:v>870</c:v>
                </c:pt>
                <c:pt idx="11">
                  <c:v>840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 (00s)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Sheet1!$A$2:$A$13</c:f>
              <c:multiLvlStrCache>
                <c:ptCount val="12"/>
                <c:lvl>
                  <c:pt idx="0">
                    <c:v>Jan</c:v>
                  </c:pt>
                  <c:pt idx="1">
                    <c:v>Feb</c:v>
                  </c:pt>
                  <c:pt idx="2">
                    <c:v>Mar</c:v>
                  </c:pt>
                  <c:pt idx="3">
                    <c:v>Apr</c:v>
                  </c:pt>
                  <c:pt idx="4">
                    <c:v>May</c:v>
                  </c:pt>
                  <c:pt idx="5">
                    <c:v>Jun</c:v>
                  </c:pt>
                  <c:pt idx="6">
                    <c:v>Jul</c:v>
                  </c:pt>
                  <c:pt idx="7">
                    <c:v>Aug</c:v>
                  </c:pt>
                  <c:pt idx="8">
                    <c:v>Sep</c:v>
                  </c:pt>
                  <c:pt idx="9">
                    <c:v>Oct</c:v>
                  </c:pt>
                  <c:pt idx="10">
                    <c:v>Nov</c:v>
                  </c:pt>
                  <c:pt idx="11">
                    <c:v>Dec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142</c:v>
                </c:pt>
                <c:pt idx="1">
                  <c:v>128</c:v>
                </c:pt>
                <c:pt idx="2">
                  <c:v>160</c:v>
                </c:pt>
                <c:pt idx="3">
                  <c:v>198</c:v>
                </c:pt>
                <c:pt idx="4">
                  <c:v>185</c:v>
                </c:pt>
                <c:pt idx="5">
                  <c:v>212</c:v>
                </c:pt>
                <c:pt idx="6">
                  <c:v>236</c:v>
                </c:pt>
                <c:pt idx="7">
                  <c:v>248</c:v>
                </c:pt>
                <c:pt idx="8">
                  <c:v>210</c:v>
                </c:pt>
                <c:pt idx="9">
                  <c:v>265</c:v>
                </c:pt>
                <c:pt idx="10">
                  <c:v>310</c:v>
                </c:pt>
                <c:pt idx="11">
                  <c:v>290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Electronics</c:v>
                  </c:pt>
                  <c:pt idx="1">
                    <c:v>Fashion</c:v>
                  </c:pt>
                  <c:pt idx="2">
                    <c:v>Home &amp; Kitchen</c:v>
                  </c:pt>
                  <c:pt idx="3">
                    <c:v>Beauty</c:v>
                  </c:pt>
                  <c:pt idx="4">
                    <c:v>Sports</c:v>
                  </c:pt>
                  <c:pt idx="5">
                    <c:v>Books &amp; Stationery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28.4</c:v>
                </c:pt>
                <c:pt idx="1">
                  <c:v>19.6</c:v>
                </c:pt>
                <c:pt idx="2">
                  <c:v>14.2</c:v>
                </c:pt>
                <c:pt idx="3">
                  <c:v>10.8</c:v>
                </c:pt>
                <c:pt idx="4">
                  <c:v>7.5</c:v>
                </c:pt>
                <c:pt idx="5">
                  <c:v>3.7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491A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491A5"/>
                </a:solidFill>
                <a:latin typeface="Arial"/>
              </a:rPr>
              <a:t>Customer Segment Mix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Customer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bubble3D val="0"/>
            <c:spPr>
              <a:solidFill>
                <a:srgbClr val="1A2B5E"/>
              </a:solidFill>
              <a:effectLst/>
            </c:spPr>
          </c:dPt>
          <c:dPt>
            <c:idx val="2"/>
            <c:bubble3D val="0"/>
            <c:spPr>
              <a:solidFill>
                <a:srgbClr val="E8621A"/>
              </a:solidFill>
              <a:effectLst/>
            </c:spPr>
          </c:dPt>
          <c:dPt>
            <c:idx val="3"/>
            <c:bubble3D val="0"/>
            <c:spPr>
              <a:solidFill>
                <a:srgbClr val="22A06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New Customers</c:v>
                </c:pt>
                <c:pt idx="1">
                  <c:v>Returning</c:v>
                </c:pt>
                <c:pt idx="2">
                  <c:v>Loyal (5+ orders)</c:v>
                </c:pt>
                <c:pt idx="3">
                  <c:v>VIP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32</c:v>
                </c:pt>
                <c:pt idx="1">
                  <c:v>28</c:v>
                </c:pt>
                <c:pt idx="2">
                  <c:v>26</c:v>
                </c:pt>
                <c:pt idx="3">
                  <c:v>14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8491A5"/>
                </a:solidFill>
                <a:latin typeface="Arial"/>
              </a:defRPr>
            </a:pPr>
            <a:r>
              <a:rPr sz="1100" b="0" i="0" u="none" strike="noStrike">
                <a:solidFill>
                  <a:srgbClr val="8491A5"/>
                </a:solidFill>
                <a:latin typeface="Arial"/>
              </a:rPr>
              <a:t>Orders by Channel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Channel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8621A"/>
              </a:solidFill>
              <a:effectLst/>
            </c:spPr>
          </c:dPt>
          <c:dPt>
            <c:idx val="1"/>
            <c:bubble3D val="0"/>
            <c:spPr>
              <a:solidFill>
                <a:srgbClr val="1A2B5E"/>
              </a:solidFill>
              <a:effectLst/>
            </c:spPr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</c:dPt>
          <c:dPt>
            <c:idx val="3"/>
            <c:bubble3D val="0"/>
            <c:spPr>
              <a:solidFill>
                <a:srgbClr val="6D28D9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Mobile App</c:v>
                </c:pt>
                <c:pt idx="1">
                  <c:v>Website</c:v>
                </c:pt>
                <c:pt idx="2">
                  <c:v>Marketplace</c:v>
                </c:pt>
                <c:pt idx="3">
                  <c:v>Social Commerce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42</c:v>
                </c:pt>
                <c:pt idx="1">
                  <c:v>31</c:v>
                </c:pt>
                <c:pt idx="2">
                  <c:v>18</c:v>
                </c:pt>
                <c:pt idx="3">
                  <c:v>9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 India</c:v>
                  </c:pt>
                  <c:pt idx="1">
                    <c:v>West India</c:v>
                  </c:pt>
                  <c:pt idx="2">
                    <c:v>South India</c:v>
                  </c:pt>
                  <c:pt idx="3">
                    <c:v>East India</c:v>
                  </c:pt>
                  <c:pt idx="4">
                    <c:v>Central India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28.4</c:v>
                </c:pt>
                <c:pt idx="1">
                  <c:v>22.1</c:v>
                </c:pt>
                <c:pt idx="2">
                  <c:v>18.6</c:v>
                </c:pt>
                <c:pt idx="3">
                  <c:v>9.8</c:v>
                </c:pt>
                <c:pt idx="4">
                  <c:v>5.3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Orders (×1000)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 India</c:v>
                  </c:pt>
                  <c:pt idx="1">
                    <c:v>West India</c:v>
                  </c:pt>
                  <c:pt idx="2">
                    <c:v>South India</c:v>
                  </c:pt>
                  <c:pt idx="3">
                    <c:v>East India</c:v>
                  </c:pt>
                  <c:pt idx="4">
                    <c:v>Central India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68.2</c:v>
                </c:pt>
                <c:pt idx="1">
                  <c:v>54.1</c:v>
                </c:pt>
                <c:pt idx="2">
                  <c:v>44.8</c:v>
                </c:pt>
                <c:pt idx="3">
                  <c:v>28.4</c:v>
                </c:pt>
                <c:pt idx="4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Discount %</c:v>
                </c:pt>
              </c:strCache>
            </c:strRef>
          </c:tx>
          <c:spPr>
            <a:solidFill>
              <a:srgbClr val="E8621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Fashion</c:v>
                  </c:pt>
                  <c:pt idx="2">
                    <c:v>Home</c:v>
                  </c:pt>
                  <c:pt idx="3">
                    <c:v>Beauty</c:v>
                  </c:pt>
                  <c:pt idx="4">
                    <c:v>Sports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</c:v>
                </c:pt>
                <c:pt idx="1">
                  <c:v>22</c:v>
                </c:pt>
                <c:pt idx="2">
                  <c:v>15</c:v>
                </c:pt>
                <c:pt idx="3">
                  <c:v>12</c:v>
                </c:pt>
                <c:pt idx="4">
                  <c:v>18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Margin %</c:v>
                </c:pt>
              </c:strCache>
            </c:strRef>
          </c:tx>
          <c:spPr>
            <a:solidFill>
              <a:srgbClr val="0D948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Electronics</c:v>
                  </c:pt>
                  <c:pt idx="1">
                    <c:v>Fashion</c:v>
                  </c:pt>
                  <c:pt idx="2">
                    <c:v>Home</c:v>
                  </c:pt>
                  <c:pt idx="3">
                    <c:v>Beauty</c:v>
                  </c:pt>
                  <c:pt idx="4">
                    <c:v>Sports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</c:v>
                </c:pt>
                <c:pt idx="1">
                  <c:v>32</c:v>
                </c:pt>
                <c:pt idx="2">
                  <c:v>28</c:v>
                </c:pt>
                <c:pt idx="3">
                  <c:v>44</c:v>
                </c:pt>
                <c:pt idx="4">
                  <c:v>26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Days</c:v>
                </c:pt>
              </c:strCache>
            </c:strRef>
          </c:tx>
          <c:spPr>
            <a:solidFill>
              <a:srgbClr val="1A2B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North</c:v>
                  </c:pt>
                  <c:pt idx="1">
                    <c:v>West</c:v>
                  </c:pt>
                  <c:pt idx="2">
                    <c:v>South</c:v>
                  </c:pt>
                  <c:pt idx="3">
                    <c:v>East</c:v>
                  </c:pt>
                  <c:pt idx="4">
                    <c:v>Central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1.8</c:v>
                </c:pt>
                <c:pt idx="1">
                  <c:v>2.1</c:v>
                </c:pt>
                <c:pt idx="2">
                  <c:v>2.3</c:v>
                </c:pt>
                <c:pt idx="3">
                  <c:v>3.1</c:v>
                </c:pt>
                <c:pt idx="4">
                  <c:v>3.8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2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491A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7F8FC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slide. Open with a brief context on what the Power BI dashboard covers. Emphasize FY2024 full-year results with Q4 as the focal period.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Headline numbers for FY2024. Revenue and orders show strong growth. AOV slight dip may reflect more budget-segment purchases or discount campaigns. Return rate improvement is a win for logistics/quality.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Revenue trend shows consistent MoM growth with festive season (Oct-Dec) contributing disproportionately. Feb dip is typical post-Jan sales cool-down.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Electronics remains the top revenue driver. Beauty overtakes Sports in growth rate — opportunity for increased marketing investment. Books shows slight decline, review digital vs physical mix.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VIP segment is small but disproportionately valuable. Focus on converting Returning → Loyal with targeted email campaigns and better loyalty rewards.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Mobile traffic dominates volume but desktop has better conversion. Recommend: invest in mobile checkout flow improvement, reduce steps to purchase, enable UPI one-tap payment.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North India leads by revenue but Central India's 31% growth signals Tier-2/3 opportunity. South India (Bengaluru) driving much of the growth — tech-savvy buyers with high AOV.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Samsung and Apple dominate electronics sales. Beauty category warrants more shelf space online. Fashion discounting strategy needs review — high discounts but only 32% margin vs Beauty's 44%.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On-time delivery at 91.4% is below 95% target — biggest gap area. Central India logistics bottleneck is a key risk. Recommend evaluating 3PL expansion or dark store pilot.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 slide — summarise top two priorities: Mobile UX and Beauty category. Open the floor for questions. Have logistics slide ready for deep dive if asked.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5" Type="http://schemas.openxmlformats.org/officeDocument/2006/relationships/chart" Target="/ppt/charts/chart2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image" Target="../media/image-4-3.png"/><Relationship Id="rId5" Type="http://schemas.openxmlformats.org/officeDocument/2006/relationships/image" Target="../media/image-4-4.png"/><Relationship Id="rId6" Type="http://schemas.openxmlformats.org/officeDocument/2006/relationships/image" Target="../media/image-4-5.png"/><Relationship Id="rId7" Type="http://schemas.openxmlformats.org/officeDocument/2006/relationships/image" Target="../media/image-4-6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image" Target="../media/image-7-5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E8621A"/>
          </a:solidFill>
          <a:ln/>
        </p:spPr>
      </p:sp>
      <p:sp>
        <p:nvSpPr>
          <p:cNvPr id="3" name="Shape 1"/>
          <p:cNvSpPr/>
          <p:nvPr/>
        </p:nvSpPr>
        <p:spPr>
          <a:xfrm>
            <a:off x="5760720" y="36576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37960" y="36576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0" y="36576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92440" y="36576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60720" y="146304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37960" y="146304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15200" y="146304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2440" y="146304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56032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37960" y="256032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0" y="256032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092440" y="256032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760720" y="365760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37960" y="365760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365760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92440" y="3657600"/>
            <a:ext cx="137160" cy="137160"/>
          </a:xfrm>
          <a:prstGeom prst="ellipse">
            <a:avLst/>
          </a:prstGeom>
          <a:solidFill>
            <a:srgbClr val="FFFFFF">
              <a:alpha val="3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731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10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</a:t>
            </a:r>
            <a:endParaRPr lang="en-US" sz="5400" dirty="0"/>
          </a:p>
        </p:txBody>
      </p:sp>
      <p:sp>
        <p:nvSpPr>
          <p:cNvPr id="20" name="Text 18"/>
          <p:cNvSpPr/>
          <p:nvPr/>
        </p:nvSpPr>
        <p:spPr>
          <a:xfrm>
            <a:off x="502920" y="146304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spc="400" kern="0" dirty="0">
                <a:solidFill>
                  <a:srgbClr val="E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</a:t>
            </a:r>
            <a:endParaRPr lang="en-US" sz="5400" dirty="0"/>
          </a:p>
        </p:txBody>
      </p:sp>
      <p:sp>
        <p:nvSpPr>
          <p:cNvPr id="21" name="Text 19"/>
          <p:cNvSpPr/>
          <p:nvPr/>
        </p:nvSpPr>
        <p:spPr>
          <a:xfrm>
            <a:off x="502920" y="228600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spc="300" kern="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502920" y="2834640"/>
            <a:ext cx="1097280" cy="54864"/>
          </a:xfrm>
          <a:prstGeom prst="rect">
            <a:avLst/>
          </a:prstGeom>
          <a:solidFill>
            <a:srgbClr val="E8621A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" y="3017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Business Intelligence Report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" y="34290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 | Q4 Performance Review</a:t>
            </a:r>
            <a:endParaRPr lang="en-US" sz="1300" dirty="0"/>
          </a:p>
        </p:txBody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1463040"/>
            <a:ext cx="1097280" cy="1097280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0" y="4846320"/>
            <a:ext cx="5486400" cy="297180"/>
          </a:xfrm>
          <a:prstGeom prst="rect">
            <a:avLst/>
          </a:prstGeom>
          <a:solidFill>
            <a:srgbClr val="243A78"/>
          </a:solidFill>
          <a:ln/>
        </p:spPr>
      </p:sp>
      <p:sp>
        <p:nvSpPr>
          <p:cNvPr id="27" name="Text 24"/>
          <p:cNvSpPr/>
          <p:nvPr/>
        </p:nvSpPr>
        <p:spPr>
          <a:xfrm>
            <a:off x="274320" y="486460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 |  BUSINESS INTELLIGENCE TEAM  |  2024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KPI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457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C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 2024 At a Glance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601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1A2B5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1965960" cy="201168"/>
          </a:xfrm>
          <a:prstGeom prst="rect">
            <a:avLst/>
          </a:prstGeom>
          <a:solidFill>
            <a:srgbClr val="1A2B5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005840"/>
            <a:ext cx="292608" cy="29260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74320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274320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₹84.2 Cr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777240" y="23317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368296"/>
            <a:ext cx="164592" cy="1645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87552" y="2340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 YoY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2450592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2450592" y="9601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E8621A"/>
          </a:solidFill>
          <a:ln/>
        </p:spPr>
      </p:sp>
      <p:sp>
        <p:nvSpPr>
          <p:cNvPr id="16" name="Shape 12"/>
          <p:cNvSpPr/>
          <p:nvPr/>
        </p:nvSpPr>
        <p:spPr>
          <a:xfrm>
            <a:off x="2450592" y="1234440"/>
            <a:ext cx="1965960" cy="201168"/>
          </a:xfrm>
          <a:prstGeom prst="rect">
            <a:avLst/>
          </a:prstGeom>
          <a:solidFill>
            <a:srgbClr val="E8621A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23744" y="1005840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2450592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950" dirty="0"/>
          </a:p>
        </p:txBody>
      </p:sp>
      <p:sp>
        <p:nvSpPr>
          <p:cNvPr id="19" name="Text 14"/>
          <p:cNvSpPr/>
          <p:nvPr/>
        </p:nvSpPr>
        <p:spPr>
          <a:xfrm>
            <a:off x="2450592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2,14,500</a:t>
            </a:r>
            <a:endParaRPr lang="en-US" sz="2200" dirty="0"/>
          </a:p>
        </p:txBody>
      </p:sp>
      <p:sp>
        <p:nvSpPr>
          <p:cNvPr id="20" name="Shape 15"/>
          <p:cNvSpPr/>
          <p:nvPr/>
        </p:nvSpPr>
        <p:spPr>
          <a:xfrm>
            <a:off x="2953512" y="23317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1FAE5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99232" y="2368296"/>
            <a:ext cx="164592" cy="16459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163824" y="2340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+22.1% YoY</a:t>
            </a:r>
            <a:endParaRPr lang="en-US" sz="900" dirty="0"/>
          </a:p>
        </p:txBody>
      </p:sp>
      <p:sp>
        <p:nvSpPr>
          <p:cNvPr id="23" name="Shape 17"/>
          <p:cNvSpPr/>
          <p:nvPr/>
        </p:nvSpPr>
        <p:spPr>
          <a:xfrm>
            <a:off x="4626864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4626864" y="9601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0D9488"/>
          </a:solidFill>
          <a:ln/>
        </p:spPr>
      </p:sp>
      <p:sp>
        <p:nvSpPr>
          <p:cNvPr id="25" name="Shape 19"/>
          <p:cNvSpPr/>
          <p:nvPr/>
        </p:nvSpPr>
        <p:spPr>
          <a:xfrm>
            <a:off x="4626864" y="1234440"/>
            <a:ext cx="1965960" cy="201168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0016" y="100584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626864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Customers</a:t>
            </a:r>
            <a:endParaRPr lang="en-US" sz="950" dirty="0"/>
          </a:p>
        </p:txBody>
      </p:sp>
      <p:sp>
        <p:nvSpPr>
          <p:cNvPr id="28" name="Text 21"/>
          <p:cNvSpPr/>
          <p:nvPr/>
        </p:nvSpPr>
        <p:spPr>
          <a:xfrm>
            <a:off x="4626864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68,320</a:t>
            </a:r>
            <a:endParaRPr lang="en-US" sz="2200" dirty="0"/>
          </a:p>
        </p:txBody>
      </p:sp>
      <p:sp>
        <p:nvSpPr>
          <p:cNvPr id="29" name="Shape 22"/>
          <p:cNvSpPr/>
          <p:nvPr/>
        </p:nvSpPr>
        <p:spPr>
          <a:xfrm>
            <a:off x="5129784" y="23317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D1FAE5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75504" y="236829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5340096" y="2340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+11.3% YoY</a:t>
            </a:r>
            <a:endParaRPr lang="en-US" sz="900" dirty="0"/>
          </a:p>
        </p:txBody>
      </p:sp>
      <p:sp>
        <p:nvSpPr>
          <p:cNvPr id="32" name="Shape 24"/>
          <p:cNvSpPr/>
          <p:nvPr/>
        </p:nvSpPr>
        <p:spPr>
          <a:xfrm>
            <a:off x="6803136" y="960120"/>
            <a:ext cx="196596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2700000">
              <a:srgbClr val="000000">
                <a:alpha val="10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6803136" y="960120"/>
            <a:ext cx="1965960" cy="457200"/>
          </a:xfrm>
          <a:prstGeom prst="roundRect">
            <a:avLst>
              <a:gd name="adj" fmla="val 16000"/>
            </a:avLst>
          </a:prstGeom>
          <a:solidFill>
            <a:srgbClr val="6D28D9"/>
          </a:solidFill>
          <a:ln/>
        </p:spPr>
      </p:sp>
      <p:sp>
        <p:nvSpPr>
          <p:cNvPr id="34" name="Shape 26"/>
          <p:cNvSpPr/>
          <p:nvPr/>
        </p:nvSpPr>
        <p:spPr>
          <a:xfrm>
            <a:off x="6803136" y="1234440"/>
            <a:ext cx="1965960" cy="201168"/>
          </a:xfrm>
          <a:prstGeom prst="rect">
            <a:avLst/>
          </a:prstGeom>
          <a:solidFill>
            <a:srgbClr val="6D28D9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76288" y="1005840"/>
            <a:ext cx="292608" cy="292608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03136" y="1481328"/>
            <a:ext cx="1965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950" dirty="0"/>
          </a:p>
        </p:txBody>
      </p:sp>
      <p:sp>
        <p:nvSpPr>
          <p:cNvPr id="37" name="Text 28"/>
          <p:cNvSpPr/>
          <p:nvPr/>
        </p:nvSpPr>
        <p:spPr>
          <a:xfrm>
            <a:off x="6803136" y="1783080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₹3,925</a:t>
            </a:r>
            <a:endParaRPr lang="en-US" sz="2200" dirty="0"/>
          </a:p>
        </p:txBody>
      </p:sp>
      <p:sp>
        <p:nvSpPr>
          <p:cNvPr id="38" name="Shape 29"/>
          <p:cNvSpPr/>
          <p:nvPr/>
        </p:nvSpPr>
        <p:spPr>
          <a:xfrm>
            <a:off x="7306056" y="2331720"/>
            <a:ext cx="960120" cy="292608"/>
          </a:xfrm>
          <a:prstGeom prst="roundRect">
            <a:avLst>
              <a:gd name="adj" fmla="val 18750"/>
            </a:avLst>
          </a:prstGeom>
          <a:solidFill>
            <a:srgbClr val="FEE2E2"/>
          </a:solidFill>
          <a:ln/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51776" y="2368296"/>
            <a:ext cx="164592" cy="164592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7516368" y="2340864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-2.8% YoY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548640" y="32004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2" name="Text 32"/>
          <p:cNvSpPr/>
          <p:nvPr/>
        </p:nvSpPr>
        <p:spPr>
          <a:xfrm>
            <a:off x="54864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Rate</a:t>
            </a:r>
            <a:endParaRPr lang="en-US" sz="1000" dirty="0"/>
          </a:p>
        </p:txBody>
      </p:sp>
      <p:sp>
        <p:nvSpPr>
          <p:cNvPr id="43" name="Text 33"/>
          <p:cNvSpPr/>
          <p:nvPr/>
        </p:nvSpPr>
        <p:spPr>
          <a:xfrm>
            <a:off x="548640" y="3611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3.42%</a:t>
            </a:r>
            <a:endParaRPr lang="en-US" sz="2400" dirty="0"/>
          </a:p>
        </p:txBody>
      </p:sp>
      <p:sp>
        <p:nvSpPr>
          <p:cNvPr id="44" name="Text 34"/>
          <p:cNvSpPr/>
          <p:nvPr/>
        </p:nvSpPr>
        <p:spPr>
          <a:xfrm>
            <a:off x="54864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avg: 2.8%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3246120" y="32004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46" name="Text 36"/>
          <p:cNvSpPr/>
          <p:nvPr/>
        </p:nvSpPr>
        <p:spPr>
          <a:xfrm>
            <a:off x="324612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Rate</a:t>
            </a:r>
            <a:endParaRPr lang="en-US" sz="1000" dirty="0"/>
          </a:p>
        </p:txBody>
      </p:sp>
      <p:sp>
        <p:nvSpPr>
          <p:cNvPr id="47" name="Text 37"/>
          <p:cNvSpPr/>
          <p:nvPr/>
        </p:nvSpPr>
        <p:spPr>
          <a:xfrm>
            <a:off x="3246120" y="3611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8.6%</a:t>
            </a:r>
            <a:endParaRPr lang="en-US" sz="2400" dirty="0"/>
          </a:p>
        </p:txBody>
      </p:sp>
      <p:sp>
        <p:nvSpPr>
          <p:cNvPr id="48" name="Text 38"/>
          <p:cNvSpPr/>
          <p:nvPr/>
        </p:nvSpPr>
        <p:spPr>
          <a:xfrm>
            <a:off x="324612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 from 10.1% last year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5943600" y="3200400"/>
            <a:ext cx="23317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8000"/>
              </a:srgbClr>
            </a:outerShdw>
          </a:effectLst>
        </p:spPr>
      </p:sp>
      <p:sp>
        <p:nvSpPr>
          <p:cNvPr id="50" name="Text 40"/>
          <p:cNvSpPr/>
          <p:nvPr/>
        </p:nvSpPr>
        <p:spPr>
          <a:xfrm>
            <a:off x="5943600" y="329184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Satisfaction</a:t>
            </a:r>
            <a:endParaRPr lang="en-US" sz="1000" dirty="0"/>
          </a:p>
        </p:txBody>
      </p:sp>
      <p:sp>
        <p:nvSpPr>
          <p:cNvPr id="51" name="Text 41"/>
          <p:cNvSpPr/>
          <p:nvPr/>
        </p:nvSpPr>
        <p:spPr>
          <a:xfrm>
            <a:off x="5943600" y="361188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 / 5</a:t>
            </a:r>
            <a:endParaRPr lang="en-US" sz="2400" dirty="0"/>
          </a:p>
        </p:txBody>
      </p:sp>
      <p:sp>
        <p:nvSpPr>
          <p:cNvPr id="52" name="Text 42"/>
          <p:cNvSpPr/>
          <p:nvPr/>
        </p:nvSpPr>
        <p:spPr>
          <a:xfrm>
            <a:off x="5943600" y="411480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on 41,200 reviews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REVENUE &amp; ORDER TREND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48640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035040" y="9144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005840"/>
            <a:ext cx="347472" cy="3474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565392" y="10058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Month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6565392" y="12984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₹10.5 Cr revenue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6035040" y="22860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4768" y="237744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565392" y="23774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1100" dirty="0"/>
          </a:p>
        </p:txBody>
      </p:sp>
      <p:sp>
        <p:nvSpPr>
          <p:cNvPr id="12" name="Text 7"/>
          <p:cNvSpPr/>
          <p:nvPr/>
        </p:nvSpPr>
        <p:spPr>
          <a:xfrm>
            <a:off x="6565392" y="26700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+18.4% vs FY2023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uptrend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035040" y="3657600"/>
            <a:ext cx="28346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4768" y="3749040"/>
            <a:ext cx="347472" cy="34747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565392" y="3749040"/>
            <a:ext cx="2240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6565392" y="4041648"/>
            <a:ext cx="2240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Oct–Dec festive surge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38% of annual revenue</a:t>
            </a:r>
            <a:endParaRPr lang="en-US" sz="1000" dirty="0"/>
          </a:p>
        </p:txBody>
      </p:sp>
      <p:graphicFrame>
        <p:nvGraphicFramePr>
          <p:cNvPr id="17" name="Chart 1" descr=""/>
          <p:cNvGraphicFramePr/>
          <p:nvPr/>
        </p:nvGraphicFramePr>
        <p:xfrm>
          <a:off x="274320" y="4434840"/>
          <a:ext cx="5486400" cy="594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Text 11"/>
          <p:cNvSpPr/>
          <p:nvPr/>
        </p:nvSpPr>
        <p:spPr>
          <a:xfrm>
            <a:off x="274320" y="437083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Orders (×100)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62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CATEGORY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3035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806440" y="91440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 by Category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806440" y="1325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18120" y="136245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45552" y="1399032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10144" y="136245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5806440" y="1856232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7818120" y="1892808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5552" y="1929384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010144" y="1892808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+18%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5806440" y="2386584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&amp; Kitchen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818120" y="2423160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2459736"/>
            <a:ext cx="146304" cy="14630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010144" y="2423160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+12%</a:t>
            </a:r>
            <a:endParaRPr lang="en-US" sz="900" dirty="0"/>
          </a:p>
        </p:txBody>
      </p:sp>
      <p:sp>
        <p:nvSpPr>
          <p:cNvPr id="18" name="Text 12"/>
          <p:cNvSpPr/>
          <p:nvPr/>
        </p:nvSpPr>
        <p:spPr>
          <a:xfrm>
            <a:off x="5806440" y="2916936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</a:t>
            </a:r>
            <a:endParaRPr lang="en-US" sz="1000" dirty="0"/>
          </a:p>
        </p:txBody>
      </p:sp>
      <p:sp>
        <p:nvSpPr>
          <p:cNvPr id="19" name="Shape 13"/>
          <p:cNvSpPr/>
          <p:nvPr/>
        </p:nvSpPr>
        <p:spPr>
          <a:xfrm>
            <a:off x="7818120" y="2953512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5552" y="2990088"/>
            <a:ext cx="146304" cy="146304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8010144" y="2953512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+28%</a:t>
            </a:r>
            <a:endParaRPr lang="en-US" sz="900" dirty="0"/>
          </a:p>
        </p:txBody>
      </p:sp>
      <p:sp>
        <p:nvSpPr>
          <p:cNvPr id="22" name="Text 15"/>
          <p:cNvSpPr/>
          <p:nvPr/>
        </p:nvSpPr>
        <p:spPr>
          <a:xfrm>
            <a:off x="5806440" y="3447288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</a:t>
            </a:r>
            <a:endParaRPr lang="en-US" sz="1000" dirty="0"/>
          </a:p>
        </p:txBody>
      </p:sp>
      <p:sp>
        <p:nvSpPr>
          <p:cNvPr id="23" name="Shape 16"/>
          <p:cNvSpPr/>
          <p:nvPr/>
        </p:nvSpPr>
        <p:spPr>
          <a:xfrm>
            <a:off x="7818120" y="3483864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D1FAE5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5552" y="3520440"/>
            <a:ext cx="146304" cy="14630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8010144" y="3483864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+9%</a:t>
            </a:r>
            <a:endParaRPr lang="en-US" sz="900" dirty="0"/>
          </a:p>
        </p:txBody>
      </p:sp>
      <p:sp>
        <p:nvSpPr>
          <p:cNvPr id="26" name="Text 18"/>
          <p:cNvSpPr/>
          <p:nvPr/>
        </p:nvSpPr>
        <p:spPr>
          <a:xfrm>
            <a:off x="5806440" y="39776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&amp; Stationery</a:t>
            </a:r>
            <a:endParaRPr lang="en-US" sz="1000" dirty="0"/>
          </a:p>
        </p:txBody>
      </p:sp>
      <p:sp>
        <p:nvSpPr>
          <p:cNvPr id="27" name="Shape 19"/>
          <p:cNvSpPr/>
          <p:nvPr/>
        </p:nvSpPr>
        <p:spPr>
          <a:xfrm>
            <a:off x="7818120" y="4014216"/>
            <a:ext cx="868680" cy="274320"/>
          </a:xfrm>
          <a:prstGeom prst="roundRect">
            <a:avLst>
              <a:gd name="adj" fmla="val 16667"/>
            </a:avLst>
          </a:prstGeom>
          <a:solidFill>
            <a:srgbClr val="FEE2E2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45552" y="4050792"/>
            <a:ext cx="146304" cy="14630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8010144" y="4014216"/>
            <a:ext cx="685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530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-4%</a:t>
            </a:r>
            <a:endParaRPr lang="en-US" sz="900" dirty="0"/>
          </a:p>
        </p:txBody>
      </p:sp>
      <p:sp>
        <p:nvSpPr>
          <p:cNvPr id="30" name="Shape 21"/>
          <p:cNvSpPr/>
          <p:nvPr/>
        </p:nvSpPr>
        <p:spPr>
          <a:xfrm>
            <a:off x="5806440" y="4434840"/>
            <a:ext cx="306324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/>
        </p:spPr>
      </p:sp>
      <p:sp>
        <p:nvSpPr>
          <p:cNvPr id="31" name="Text 22"/>
          <p:cNvSpPr/>
          <p:nvPr/>
        </p:nvSpPr>
        <p:spPr>
          <a:xfrm>
            <a:off x="5897880" y="4462272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Beauty is the fastest-growing category at +28% YoY, driven by premium skincare launches.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 SEGMENTATION &amp; BEHAVIOR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384048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343400" y="100584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CADCFC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343400" y="1097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343400" y="13898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A2B5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32%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34340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Order: ₹2,840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6629400" y="100584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1A2B5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629400" y="10972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6629400" y="138988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28%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629400" y="189280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Order: ₹3,620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400" y="251460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E8621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343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(5+ orders)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434340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26%</a:t>
            </a:r>
            <a:endParaRPr lang="en-US" sz="2800" dirty="0"/>
          </a:p>
        </p:txBody>
      </p:sp>
      <p:sp>
        <p:nvSpPr>
          <p:cNvPr id="16" name="Text 13"/>
          <p:cNvSpPr/>
          <p:nvPr/>
        </p:nvSpPr>
        <p:spPr>
          <a:xfrm>
            <a:off x="4343400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Order: ₹4,910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629400" y="2514600"/>
            <a:ext cx="2103120" cy="1280160"/>
          </a:xfrm>
          <a:prstGeom prst="roundRect">
            <a:avLst>
              <a:gd name="adj" fmla="val 7143"/>
            </a:avLst>
          </a:prstGeom>
          <a:solidFill>
            <a:srgbClr val="22A06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629400" y="26060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629400" y="2898648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14%</a:t>
            </a:r>
            <a:endParaRPr lang="en-US" sz="2800" dirty="0"/>
          </a:p>
        </p:txBody>
      </p:sp>
      <p:sp>
        <p:nvSpPr>
          <p:cNvPr id="20" name="Text 17"/>
          <p:cNvSpPr/>
          <p:nvPr/>
        </p:nvSpPr>
        <p:spPr>
          <a:xfrm>
            <a:off x="6629400" y="3401568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Order: ₹8,250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274320" y="42062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365760" y="42245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customers (14%) contribute 38% of total revenue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3200400" y="42062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3291840" y="42245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 acquisition cost down 12% via improved SEO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26480" y="4206240"/>
            <a:ext cx="274320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Text 23"/>
          <p:cNvSpPr/>
          <p:nvPr/>
        </p:nvSpPr>
        <p:spPr>
          <a:xfrm>
            <a:off x="6217920" y="422452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program driving 22% repeat purchase rate increase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SALES CHANNEL &amp; DEVICE ANALYSIS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914400"/>
          <a:ext cx="41148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4663440" y="96012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Performance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663440" y="137160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3168" y="1627632"/>
            <a:ext cx="347472" cy="34747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12080" y="149961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212080" y="184708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3.1%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6949440" y="164592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E8ECF4"/>
          </a:solidFill>
          <a:ln/>
        </p:spPr>
      </p:sp>
      <p:sp>
        <p:nvSpPr>
          <p:cNvPr id="11" name="Shape 7"/>
          <p:cNvSpPr/>
          <p:nvPr/>
        </p:nvSpPr>
        <p:spPr>
          <a:xfrm>
            <a:off x="6949440" y="1645920"/>
            <a:ext cx="976122" cy="256032"/>
          </a:xfrm>
          <a:prstGeom prst="roundRect">
            <a:avLst>
              <a:gd name="adj" fmla="val 21429"/>
            </a:avLst>
          </a:prstGeom>
          <a:solidFill>
            <a:srgbClr val="E8621A"/>
          </a:solidFill>
          <a:ln/>
        </p:spPr>
      </p:sp>
      <p:sp>
        <p:nvSpPr>
          <p:cNvPr id="12" name="Text 8"/>
          <p:cNvSpPr/>
          <p:nvPr/>
        </p:nvSpPr>
        <p:spPr>
          <a:xfrm>
            <a:off x="8577072" y="16276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663440" y="246888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3168" y="2724912"/>
            <a:ext cx="347472" cy="34747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212080" y="259689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212080" y="294436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4.8%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6949440" y="274320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E8ECF4"/>
          </a:solidFill>
          <a:ln/>
        </p:spPr>
      </p:sp>
      <p:sp>
        <p:nvSpPr>
          <p:cNvPr id="18" name="Shape 13"/>
          <p:cNvSpPr/>
          <p:nvPr/>
        </p:nvSpPr>
        <p:spPr>
          <a:xfrm>
            <a:off x="6949440" y="2743200"/>
            <a:ext cx="512064" cy="256032"/>
          </a:xfrm>
          <a:prstGeom prst="roundRect">
            <a:avLst>
              <a:gd name="adj" fmla="val 21429"/>
            </a:avLst>
          </a:prstGeom>
          <a:solidFill>
            <a:srgbClr val="E8621A"/>
          </a:solidFill>
          <a:ln/>
        </p:spPr>
      </p:sp>
      <p:sp>
        <p:nvSpPr>
          <p:cNvPr id="19" name="Text 14"/>
          <p:cNvSpPr/>
          <p:nvPr/>
        </p:nvSpPr>
        <p:spPr>
          <a:xfrm>
            <a:off x="8577072" y="272491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32%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4663440" y="3566160"/>
            <a:ext cx="4114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12700" dir="2700000">
              <a:srgbClr val="000000">
                <a:alpha val="8000"/>
              </a:srgbClr>
            </a:outerShdw>
          </a:effectLst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3168" y="3822192"/>
            <a:ext cx="34747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12080" y="3694176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Tablet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5212080" y="4041648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Conversion: 3.6%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6949440" y="3840480"/>
            <a:ext cx="1600200" cy="256032"/>
          </a:xfrm>
          <a:prstGeom prst="roundRect">
            <a:avLst>
              <a:gd name="adj" fmla="val 21429"/>
            </a:avLst>
          </a:prstGeom>
          <a:solidFill>
            <a:srgbClr val="E8ECF4"/>
          </a:solidFill>
          <a:ln/>
        </p:spPr>
      </p:sp>
      <p:sp>
        <p:nvSpPr>
          <p:cNvPr id="25" name="Shape 19"/>
          <p:cNvSpPr/>
          <p:nvPr/>
        </p:nvSpPr>
        <p:spPr>
          <a:xfrm>
            <a:off x="6949440" y="3840480"/>
            <a:ext cx="112014" cy="256032"/>
          </a:xfrm>
          <a:prstGeom prst="roundRect">
            <a:avLst>
              <a:gd name="adj" fmla="val 48980"/>
            </a:avLst>
          </a:prstGeom>
          <a:solidFill>
            <a:srgbClr val="E8621A"/>
          </a:solidFill>
          <a:ln/>
        </p:spPr>
      </p:sp>
      <p:sp>
        <p:nvSpPr>
          <p:cNvPr id="26" name="Text 20"/>
          <p:cNvSpPr/>
          <p:nvPr/>
        </p:nvSpPr>
        <p:spPr>
          <a:xfrm>
            <a:off x="8577072" y="382219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4663440" y="4434840"/>
            <a:ext cx="4114800" cy="548640"/>
          </a:xfrm>
          <a:prstGeom prst="roundRect">
            <a:avLst>
              <a:gd name="adj" fmla="val 13333"/>
            </a:avLst>
          </a:prstGeom>
          <a:solidFill>
            <a:srgbClr val="FFF7ED"/>
          </a:solidFill>
          <a:ln/>
        </p:spPr>
      </p:sp>
      <p:sp>
        <p:nvSpPr>
          <p:cNvPr id="28" name="Text 22"/>
          <p:cNvSpPr/>
          <p:nvPr/>
        </p:nvSpPr>
        <p:spPr>
          <a:xfrm>
            <a:off x="4754880" y="4462272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862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Mobile drives 61% of orders but desktop converts 55% better. Mobile UX optimisation is the #1 growth lever.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6D28D9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REGIONAL PERFORMANCE</a:t>
            </a:r>
            <a:endParaRPr lang="en-US" sz="2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868680"/>
          <a:ext cx="502920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32120" y="91440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Highlights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532120" y="1280160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1399032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97880" y="133502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 India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5897880" y="1581912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Delhi, Noida, Gurugram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8229600" y="1426464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11" name="Text 7"/>
          <p:cNvSpPr/>
          <p:nvPr/>
        </p:nvSpPr>
        <p:spPr>
          <a:xfrm>
            <a:off x="8229600" y="144475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+22%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5532120" y="1956816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207568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897880" y="201168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India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5897880" y="225856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Mumbai, Pune, Ahmedabad</a:t>
            </a:r>
            <a:endParaRPr lang="en-US" sz="800" dirty="0"/>
          </a:p>
        </p:txBody>
      </p:sp>
      <p:sp>
        <p:nvSpPr>
          <p:cNvPr id="16" name="Shape 11"/>
          <p:cNvSpPr/>
          <p:nvPr/>
        </p:nvSpPr>
        <p:spPr>
          <a:xfrm>
            <a:off x="8229600" y="2103120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17" name="Text 12"/>
          <p:cNvSpPr/>
          <p:nvPr/>
        </p:nvSpPr>
        <p:spPr>
          <a:xfrm>
            <a:off x="8229600" y="2121408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+19%</a:t>
            </a:r>
            <a:endParaRPr lang="en-US" sz="900" dirty="0"/>
          </a:p>
        </p:txBody>
      </p:sp>
      <p:sp>
        <p:nvSpPr>
          <p:cNvPr id="18" name="Shape 13"/>
          <p:cNvSpPr/>
          <p:nvPr/>
        </p:nvSpPr>
        <p:spPr>
          <a:xfrm>
            <a:off x="5532120" y="2633472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7840" y="2752344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897880" y="26883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</a:t>
            </a:r>
            <a:endParaRPr lang="en-US" sz="1000" dirty="0"/>
          </a:p>
        </p:txBody>
      </p:sp>
      <p:sp>
        <p:nvSpPr>
          <p:cNvPr id="21" name="Text 15"/>
          <p:cNvSpPr/>
          <p:nvPr/>
        </p:nvSpPr>
        <p:spPr>
          <a:xfrm>
            <a:off x="5897880" y="2935224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Bengaluru, Hyderabad, Chennai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8229600" y="2779776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23" name="Text 17"/>
          <p:cNvSpPr/>
          <p:nvPr/>
        </p:nvSpPr>
        <p:spPr>
          <a:xfrm>
            <a:off x="8229600" y="2798064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+24%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5532120" y="3310128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3429000"/>
            <a:ext cx="256032" cy="25603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5897880" y="336499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East India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897880" y="3611880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Kolkata, Bhubaneswar</a:t>
            </a:r>
            <a:endParaRPr lang="en-US" sz="800" dirty="0"/>
          </a:p>
        </p:txBody>
      </p:sp>
      <p:sp>
        <p:nvSpPr>
          <p:cNvPr id="28" name="Shape 21"/>
          <p:cNvSpPr/>
          <p:nvPr/>
        </p:nvSpPr>
        <p:spPr>
          <a:xfrm>
            <a:off x="8229600" y="3456432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29" name="Text 22"/>
          <p:cNvSpPr/>
          <p:nvPr/>
        </p:nvSpPr>
        <p:spPr>
          <a:xfrm>
            <a:off x="8229600" y="3474720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+14%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532120" y="3986784"/>
            <a:ext cx="333756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7000"/>
              </a:srgbClr>
            </a:outerShdw>
          </a:effectLst>
        </p:spPr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77840" y="4105656"/>
            <a:ext cx="256032" cy="256032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897880" y="40416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</a:t>
            </a:r>
            <a:endParaRPr lang="en-US" sz="1000" dirty="0"/>
          </a:p>
        </p:txBody>
      </p:sp>
      <p:sp>
        <p:nvSpPr>
          <p:cNvPr id="33" name="Text 25"/>
          <p:cNvSpPr/>
          <p:nvPr/>
        </p:nvSpPr>
        <p:spPr>
          <a:xfrm>
            <a:off x="5897880" y="428853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Bhopal, Nagpur, Indore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8229600" y="4133088"/>
            <a:ext cx="566928" cy="256032"/>
          </a:xfrm>
          <a:prstGeom prst="roundRect">
            <a:avLst>
              <a:gd name="adj" fmla="val 17857"/>
            </a:avLst>
          </a:prstGeom>
          <a:solidFill>
            <a:srgbClr val="D1FAE5"/>
          </a:solidFill>
          <a:ln/>
        </p:spPr>
      </p:sp>
      <p:sp>
        <p:nvSpPr>
          <p:cNvPr id="35" name="Text 27"/>
          <p:cNvSpPr/>
          <p:nvPr/>
        </p:nvSpPr>
        <p:spPr>
          <a:xfrm>
            <a:off x="8229600" y="415137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2A0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+31%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5532120" y="4663440"/>
            <a:ext cx="3337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Central India shows highest growth rate (+31%) from Tier-2/3 city expansion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E8621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PRODUCTS &amp; DISCOUNT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8686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Revenue-Generating Products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234440"/>
          <a:ext cx="5029200" cy="2560320"/>
        </p:xfrm>
        <a:graphic>
          <a:graphicData uri="http://schemas.openxmlformats.org/drawingml/2006/table">
            <a:tbl>
              <a:tblPr/>
              <a:tblGrid>
                <a:gridCol w="411480"/>
                <a:gridCol w="1965960"/>
                <a:gridCol w="914400"/>
                <a:gridCol w="685800"/>
                <a:gridCol w="6858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Revenue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Samsung Galaxy S24 FE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₹4.2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8,400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AirPods Pro 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₹2.8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14,200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Nike Air Max 270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₹1.9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9,500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Prestige Smart Cooker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₹1.4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7,800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Lakme Skin Serum Kit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₹1.1 Cr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dirty="0">
                          <a:solidFill>
                            <a:srgbClr val="1A2B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4.6★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77840" y="86868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vs Margin Impact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577840" y="1234440"/>
          <a:ext cx="329184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4"/>
          <p:cNvSpPr/>
          <p:nvPr/>
        </p:nvSpPr>
        <p:spPr>
          <a:xfrm>
            <a:off x="274320" y="411480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9" name="Text 5"/>
          <p:cNvSpPr/>
          <p:nvPr/>
        </p:nvSpPr>
        <p:spPr>
          <a:xfrm>
            <a:off x="411480" y="41605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has highest margins (44%) despite moderate discounts — protect pricing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754880" y="4114800"/>
            <a:ext cx="416052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2700000">
              <a:srgbClr val="000000">
                <a:alpha val="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892040" y="4160520"/>
            <a:ext cx="3886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Fashion over-discounting (22%) compressing margins — audit promo calendar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A2B5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LOGISTICS &amp; FULFILLMENT 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On-Time Delivery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95%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3200400" y="950976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E8ECF4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0" y="950976"/>
            <a:ext cx="4178808" cy="438912"/>
          </a:xfrm>
          <a:prstGeom prst="roundRect">
            <a:avLst>
              <a:gd name="adj" fmla="val 16667"/>
            </a:avLst>
          </a:prstGeom>
          <a:solidFill>
            <a:srgbClr val="22A06B"/>
          </a:solidFill>
          <a:ln/>
        </p:spPr>
      </p:sp>
      <p:sp>
        <p:nvSpPr>
          <p:cNvPr id="8" name="Text 6"/>
          <p:cNvSpPr/>
          <p:nvPr/>
        </p:nvSpPr>
        <p:spPr>
          <a:xfrm>
            <a:off x="7882128" y="93268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2A0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91.4%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Delivery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222199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25%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0" y="1911096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E8ECF4"/>
          </a:solidFill>
          <a:ln/>
        </p:spPr>
      </p:sp>
      <p:sp>
        <p:nvSpPr>
          <p:cNvPr id="12" name="Shape 10"/>
          <p:cNvSpPr/>
          <p:nvPr/>
        </p:nvSpPr>
        <p:spPr>
          <a:xfrm>
            <a:off x="3200400" y="1911096"/>
            <a:ext cx="832104" cy="438912"/>
          </a:xfrm>
          <a:prstGeom prst="roundRect">
            <a:avLst>
              <a:gd name="adj" fmla="val 16667"/>
            </a:avLst>
          </a:prstGeom>
          <a:solidFill>
            <a:srgbClr val="E8621A"/>
          </a:solidFill>
          <a:ln/>
        </p:spPr>
      </p:sp>
      <p:sp>
        <p:nvSpPr>
          <p:cNvPr id="13" name="Text 11"/>
          <p:cNvSpPr/>
          <p:nvPr/>
        </p:nvSpPr>
        <p:spPr>
          <a:xfrm>
            <a:off x="7882128" y="189280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62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18.2%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83464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Accuracy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5760" y="318211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99%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0" y="2871216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E8ECF4"/>
          </a:solidFill>
          <a:ln/>
        </p:spPr>
      </p:sp>
      <p:sp>
        <p:nvSpPr>
          <p:cNvPr id="17" name="Shape 15"/>
          <p:cNvSpPr/>
          <p:nvPr/>
        </p:nvSpPr>
        <p:spPr>
          <a:xfrm>
            <a:off x="3200400" y="2871216"/>
            <a:ext cx="4471416" cy="438912"/>
          </a:xfrm>
          <a:prstGeom prst="roundRect">
            <a:avLst>
              <a:gd name="adj" fmla="val 16667"/>
            </a:avLst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7882128" y="285292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97.8%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365760" y="37947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Processed &lt;48h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65760" y="4142232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90%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0" y="3831336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E8ECF4"/>
          </a:solidFill>
          <a:ln/>
        </p:spPr>
      </p:sp>
      <p:sp>
        <p:nvSpPr>
          <p:cNvPr id="22" name="Shape 20"/>
          <p:cNvSpPr/>
          <p:nvPr/>
        </p:nvSpPr>
        <p:spPr>
          <a:xfrm>
            <a:off x="3200400" y="3831336"/>
            <a:ext cx="3822192" cy="438912"/>
          </a:xfrm>
          <a:prstGeom prst="roundRect">
            <a:avLst>
              <a:gd name="adj" fmla="val 16667"/>
            </a:avLst>
          </a:prstGeom>
          <a:solidFill>
            <a:srgbClr val="6D28D9"/>
          </a:solidFill>
          <a:ln/>
        </p:spPr>
      </p:sp>
      <p:sp>
        <p:nvSpPr>
          <p:cNvPr id="23" name="Text 21"/>
          <p:cNvSpPr/>
          <p:nvPr/>
        </p:nvSpPr>
        <p:spPr>
          <a:xfrm>
            <a:off x="7882128" y="3813048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83.6%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65760" y="3977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Delivery Time by Region (Days)</a:t>
            </a:r>
            <a:endParaRPr lang="en-US" sz="1100" dirty="0"/>
          </a:p>
        </p:txBody>
      </p:sp>
      <p:graphicFrame>
        <p:nvGraphicFramePr>
          <p:cNvPr id="25" name="Chart 0" descr=""/>
          <p:cNvGraphicFramePr/>
          <p:nvPr/>
        </p:nvGraphicFramePr>
        <p:xfrm>
          <a:off x="274320" y="4251960"/>
          <a:ext cx="5029200" cy="777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6" name="Shape 23"/>
          <p:cNvSpPr/>
          <p:nvPr/>
        </p:nvSpPr>
        <p:spPr>
          <a:xfrm>
            <a:off x="5577840" y="4069080"/>
            <a:ext cx="3337560" cy="91440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/>
        </p:spPr>
      </p:sp>
      <p:pic>
        <p:nvPicPr>
          <p:cNvPr id="27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0992" y="4133088"/>
            <a:ext cx="292608" cy="29260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016752" y="4096512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India's 3.8-day avg delivery is above acceptable threshold. Explore fulfilment centre in Nagpur for Tier-2 coverage.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B5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STRATEGIC RECOMMENDATIONS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491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Actions for H1 FY2025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365760" y="12801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02920" y="1417320"/>
            <a:ext cx="502920" cy="502920"/>
          </a:xfrm>
          <a:prstGeom prst="ellipse">
            <a:avLst/>
          </a:prstGeom>
          <a:solidFill>
            <a:srgbClr val="E8621A"/>
          </a:solidFill>
          <a:ln/>
        </p:spPr>
      </p:sp>
      <p:sp>
        <p:nvSpPr>
          <p:cNvPr id="6" name="Text 4"/>
          <p:cNvSpPr/>
          <p:nvPr/>
        </p:nvSpPr>
        <p:spPr>
          <a:xfrm>
            <a:off x="502920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15568" y="14264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UX Overhaul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193852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Streamline checkout to ≤3 steps. Implement UPI one-tap &amp; saved address auto-fill. Target: mobile CVR from 3.1% → 4.5%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474720" y="14630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8621A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4663440" y="128016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141732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146304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13248" y="142646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Beauty Category Scale-Up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00600" y="193852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SKU count in skincare &amp; hair care. Launch influencer seeding program. Protect 44% margins — avoid unnecessary discounting.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0" y="146304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E8621A"/>
          </a:solidFill>
          <a:ln/>
        </p:spPr>
      </p:sp>
      <p:sp>
        <p:nvSpPr>
          <p:cNvPr id="17" name="Text 15"/>
          <p:cNvSpPr/>
          <p:nvPr/>
        </p:nvSpPr>
        <p:spPr>
          <a:xfrm>
            <a:off x="7772400" y="14630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576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02920" y="3200400"/>
            <a:ext cx="502920" cy="50292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2095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India Logistics Hub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02920" y="372160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fulfilment centre in Nagpur to serve Central &amp; Tier-2 markets. Reduce avg delivery from 3.8 to 2.2 days. Unlock 31% growth potential.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474720" y="324612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4C5B7A"/>
          </a:solidFill>
          <a:ln/>
        </p:spPr>
      </p:sp>
      <p:sp>
        <p:nvSpPr>
          <p:cNvPr id="24" name="Text 22"/>
          <p:cNvSpPr/>
          <p:nvPr/>
        </p:nvSpPr>
        <p:spPr>
          <a:xfrm>
            <a:off x="3474720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663440" y="306324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FFFFFF">
              <a:alpha val="92000"/>
            </a:srgbClr>
          </a:solidFill>
          <a:ln/>
          <a:effectLst>
            <a:outerShdw sx="100000" sy="100000" kx="0" ky="0" algn="bl" rotWithShape="0" blurRad="127000" dist="38100" dir="2700000">
              <a:srgbClr val="000000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200400"/>
            <a:ext cx="502920" cy="502920"/>
          </a:xfrm>
          <a:prstGeom prst="ellipse">
            <a:avLst/>
          </a:prstGeom>
          <a:solidFill>
            <a:srgbClr val="22A06B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24612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413248" y="3209544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Loyalty Programme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800600" y="3721608"/>
            <a:ext cx="36118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8C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dedicated VIP tier with early access, free express shipping &amp; personal shopping assistant. Protect high-AOV (₹8,250) customers.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772400" y="3246120"/>
            <a:ext cx="731520" cy="256032"/>
          </a:xfrm>
          <a:prstGeom prst="roundRect">
            <a:avLst>
              <a:gd name="adj" fmla="val 17857"/>
            </a:avLst>
          </a:prstGeom>
          <a:solidFill>
            <a:srgbClr val="4C5B7A"/>
          </a:solidFill>
          <a:ln/>
        </p:spPr>
      </p:sp>
      <p:sp>
        <p:nvSpPr>
          <p:cNvPr id="31" name="Text 29"/>
          <p:cNvSpPr/>
          <p:nvPr/>
        </p:nvSpPr>
        <p:spPr>
          <a:xfrm>
            <a:off x="7772400" y="324612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5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Business Intelligence Team  |  Q4 FY2024 Review  |  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E-Commerce Analytics</dc:title>
  <dc:subject>PptxGenJS Presentation</dc:subject>
  <dc:creator>Business Intelligence Team</dc:creator>
  <cp:lastModifiedBy>Business Intelligence Team</cp:lastModifiedBy>
  <cp:revision>1</cp:revision>
  <dcterms:created xsi:type="dcterms:W3CDTF">2026-06-16T08:32:51Z</dcterms:created>
  <dcterms:modified xsi:type="dcterms:W3CDTF">2026-06-16T08:32:51Z</dcterms:modified>
</cp:coreProperties>
</file>